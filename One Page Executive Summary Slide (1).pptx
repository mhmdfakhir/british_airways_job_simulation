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79300" cy="9134475" type="ledger"/>
  <p:notesSz cx="6858000" cy="9144000"/>
  <p:embeddedFontLst>
    <p:embeddedFont>
      <p:font typeface="Agrandir" panose="020B0604020202020204" charset="0"/>
      <p:regular r:id="rId3"/>
    </p:embeddedFont>
    <p:embeddedFont>
      <p:font typeface="Agrandir Ultra-Bold" panose="020B0604020202020204" charset="0"/>
      <p:regular r:id="rId4"/>
    </p:embeddedFont>
  </p:embeddedFontLst>
  <p:defaultTextStyle>
    <a:defPPr>
      <a:defRPr lang="en-US"/>
    </a:defPPr>
    <a:lvl1pPr marL="0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1pPr>
    <a:lvl2pPr marL="533555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2pPr>
    <a:lvl3pPr marL="106710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3pPr>
    <a:lvl4pPr marL="1600664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4pPr>
    <a:lvl5pPr marL="213421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5pPr>
    <a:lvl6pPr marL="2667774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6pPr>
    <a:lvl7pPr marL="3201328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7pPr>
    <a:lvl8pPr marL="3734882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8pPr>
    <a:lvl9pPr marL="4268439" algn="l" defTabSz="1067109" rtl="0" eaLnBrk="1" latinLnBrk="0" hangingPunct="1">
      <a:defRPr sz="2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1" userDrawn="1">
          <p15:clr>
            <a:srgbClr val="A4A3A4"/>
          </p15:clr>
        </p15:guide>
        <p15:guide id="2" pos="3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AFF"/>
    <a:srgbClr val="B3C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611"/>
        <p:guide pos="32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095" y="2575310"/>
            <a:ext cx="8852413" cy="1777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91" y="4697730"/>
            <a:ext cx="7290222" cy="21185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0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1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1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2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2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3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44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64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684" y="5327175"/>
            <a:ext cx="8852413" cy="1646508"/>
          </a:xfrm>
        </p:spPr>
        <p:txBody>
          <a:bodyPr anchor="t"/>
          <a:lstStyle>
            <a:lvl1pPr algn="l">
              <a:defRPr sz="455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684" y="3513709"/>
            <a:ext cx="8852413" cy="1813461"/>
          </a:xfrm>
        </p:spPr>
        <p:txBody>
          <a:bodyPr anchor="b"/>
          <a:lstStyle>
            <a:lvl1pPr marL="0" indent="0">
              <a:buNone/>
              <a:defRPr sz="2278">
                <a:solidFill>
                  <a:schemeClr val="tx1">
                    <a:tint val="75000"/>
                  </a:schemeClr>
                </a:solidFill>
              </a:defRPr>
            </a:lvl1pPr>
            <a:lvl2pPr marL="520583" indent="0">
              <a:buNone/>
              <a:defRPr sz="2050">
                <a:solidFill>
                  <a:schemeClr val="tx1">
                    <a:tint val="75000"/>
                  </a:schemeClr>
                </a:solidFill>
              </a:defRPr>
            </a:lvl2pPr>
            <a:lvl3pPr marL="1041166" indent="0">
              <a:buNone/>
              <a:defRPr sz="1822">
                <a:solidFill>
                  <a:schemeClr val="tx1">
                    <a:tint val="75000"/>
                  </a:schemeClr>
                </a:solidFill>
              </a:defRPr>
            </a:lvl3pPr>
            <a:lvl4pPr marL="1561749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4pPr>
            <a:lvl5pPr marL="2082332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5pPr>
            <a:lvl6pPr marL="2602916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6pPr>
            <a:lvl7pPr marL="3123498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7pPr>
            <a:lvl8pPr marL="3644080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8pPr>
            <a:lvl9pPr marL="4164664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0733" y="1934369"/>
            <a:ext cx="4599783" cy="5471091"/>
          </a:xfrm>
        </p:spPr>
        <p:txBody>
          <a:bodyPr/>
          <a:lstStyle>
            <a:lvl1pPr>
              <a:defRPr sz="3189"/>
            </a:lvl1pPr>
            <a:lvl2pPr>
              <a:defRPr sz="2734"/>
            </a:lvl2pPr>
            <a:lvl3pPr>
              <a:defRPr sz="2278"/>
            </a:lvl3pPr>
            <a:lvl4pPr>
              <a:defRPr sz="2050"/>
            </a:lvl4pPr>
            <a:lvl5pPr>
              <a:defRPr sz="2050"/>
            </a:lvl5pPr>
            <a:lvl6pPr>
              <a:defRPr sz="2050"/>
            </a:lvl6pPr>
            <a:lvl7pPr>
              <a:defRPr sz="2050"/>
            </a:lvl7pPr>
            <a:lvl8pPr>
              <a:defRPr sz="2050"/>
            </a:lvl8pPr>
            <a:lvl9pPr>
              <a:defRPr sz="2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092" y="1934369"/>
            <a:ext cx="4599783" cy="5471091"/>
          </a:xfrm>
        </p:spPr>
        <p:txBody>
          <a:bodyPr/>
          <a:lstStyle>
            <a:lvl1pPr>
              <a:defRPr sz="3189"/>
            </a:lvl1pPr>
            <a:lvl2pPr>
              <a:defRPr sz="2734"/>
            </a:lvl2pPr>
            <a:lvl3pPr>
              <a:defRPr sz="2278"/>
            </a:lvl3pPr>
            <a:lvl4pPr>
              <a:defRPr sz="2050"/>
            </a:lvl4pPr>
            <a:lvl5pPr>
              <a:defRPr sz="2050"/>
            </a:lvl5pPr>
            <a:lvl6pPr>
              <a:defRPr sz="2050"/>
            </a:lvl6pPr>
            <a:lvl7pPr>
              <a:defRPr sz="2050"/>
            </a:lvl7pPr>
            <a:lvl8pPr>
              <a:defRPr sz="2050"/>
            </a:lvl8pPr>
            <a:lvl9pPr>
              <a:defRPr sz="2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32" y="1855681"/>
            <a:ext cx="4601592" cy="773359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583" indent="0">
              <a:buNone/>
              <a:defRPr sz="2278" b="1"/>
            </a:lvl2pPr>
            <a:lvl3pPr marL="1041166" indent="0">
              <a:buNone/>
              <a:defRPr sz="2050" b="1"/>
            </a:lvl3pPr>
            <a:lvl4pPr marL="1561749" indent="0">
              <a:buNone/>
              <a:defRPr sz="1822" b="1"/>
            </a:lvl4pPr>
            <a:lvl5pPr marL="2082332" indent="0">
              <a:buNone/>
              <a:defRPr sz="1822" b="1"/>
            </a:lvl5pPr>
            <a:lvl6pPr marL="2602916" indent="0">
              <a:buNone/>
              <a:defRPr sz="1822" b="1"/>
            </a:lvl6pPr>
            <a:lvl7pPr marL="3123498" indent="0">
              <a:buNone/>
              <a:defRPr sz="1822" b="1"/>
            </a:lvl7pPr>
            <a:lvl8pPr marL="3644080" indent="0">
              <a:buNone/>
              <a:defRPr sz="1822" b="1"/>
            </a:lvl8pPr>
            <a:lvl9pPr marL="4164664" indent="0">
              <a:buNone/>
              <a:defRPr sz="18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32" y="2629040"/>
            <a:ext cx="4601592" cy="4776410"/>
          </a:xfrm>
        </p:spPr>
        <p:txBody>
          <a:bodyPr/>
          <a:lstStyle>
            <a:lvl1pPr>
              <a:defRPr sz="2734"/>
            </a:lvl1pPr>
            <a:lvl2pPr>
              <a:defRPr sz="2278"/>
            </a:lvl2pPr>
            <a:lvl3pPr>
              <a:defRPr sz="2050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0475" y="1855681"/>
            <a:ext cx="4603399" cy="773359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583" indent="0">
              <a:buNone/>
              <a:defRPr sz="2278" b="1"/>
            </a:lvl2pPr>
            <a:lvl3pPr marL="1041166" indent="0">
              <a:buNone/>
              <a:defRPr sz="2050" b="1"/>
            </a:lvl3pPr>
            <a:lvl4pPr marL="1561749" indent="0">
              <a:buNone/>
              <a:defRPr sz="1822" b="1"/>
            </a:lvl4pPr>
            <a:lvl5pPr marL="2082332" indent="0">
              <a:buNone/>
              <a:defRPr sz="1822" b="1"/>
            </a:lvl5pPr>
            <a:lvl6pPr marL="2602916" indent="0">
              <a:buNone/>
              <a:defRPr sz="1822" b="1"/>
            </a:lvl6pPr>
            <a:lvl7pPr marL="3123498" indent="0">
              <a:buNone/>
              <a:defRPr sz="1822" b="1"/>
            </a:lvl7pPr>
            <a:lvl8pPr marL="3644080" indent="0">
              <a:buNone/>
              <a:defRPr sz="1822" b="1"/>
            </a:lvl8pPr>
            <a:lvl9pPr marL="4164664" indent="0">
              <a:buNone/>
              <a:defRPr sz="18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90475" y="2629040"/>
            <a:ext cx="4603399" cy="4776410"/>
          </a:xfrm>
        </p:spPr>
        <p:txBody>
          <a:bodyPr/>
          <a:lstStyle>
            <a:lvl1pPr>
              <a:defRPr sz="2734"/>
            </a:lvl1pPr>
            <a:lvl2pPr>
              <a:defRPr sz="2278"/>
            </a:lvl2pPr>
            <a:lvl3pPr>
              <a:defRPr sz="2050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40" y="330069"/>
            <a:ext cx="3426333" cy="1404713"/>
          </a:xfrm>
        </p:spPr>
        <p:txBody>
          <a:bodyPr anchor="b"/>
          <a:lstStyle>
            <a:lvl1pPr algn="l">
              <a:defRPr sz="22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823" y="330079"/>
            <a:ext cx="5822053" cy="7075381"/>
          </a:xfrm>
        </p:spPr>
        <p:txBody>
          <a:bodyPr/>
          <a:lstStyle>
            <a:lvl1pPr>
              <a:defRPr sz="3643"/>
            </a:lvl1pPr>
            <a:lvl2pPr>
              <a:defRPr sz="3189"/>
            </a:lvl2pPr>
            <a:lvl3pPr>
              <a:defRPr sz="2734"/>
            </a:lvl3pPr>
            <a:lvl4pPr>
              <a:defRPr sz="2278"/>
            </a:lvl4pPr>
            <a:lvl5pPr>
              <a:defRPr sz="2278"/>
            </a:lvl5pPr>
            <a:lvl6pPr>
              <a:defRPr sz="2278"/>
            </a:lvl6pPr>
            <a:lvl7pPr>
              <a:defRPr sz="2278"/>
            </a:lvl7pPr>
            <a:lvl8pPr>
              <a:defRPr sz="2278"/>
            </a:lvl8pPr>
            <a:lvl9pPr>
              <a:defRPr sz="2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40" y="1734792"/>
            <a:ext cx="3426333" cy="5670667"/>
          </a:xfrm>
        </p:spPr>
        <p:txBody>
          <a:bodyPr/>
          <a:lstStyle>
            <a:lvl1pPr marL="0" indent="0">
              <a:buNone/>
              <a:defRPr sz="1595"/>
            </a:lvl1pPr>
            <a:lvl2pPr marL="520583" indent="0">
              <a:buNone/>
              <a:defRPr sz="1367"/>
            </a:lvl2pPr>
            <a:lvl3pPr marL="1041166" indent="0">
              <a:buNone/>
              <a:defRPr sz="1139"/>
            </a:lvl3pPr>
            <a:lvl4pPr marL="1561749" indent="0">
              <a:buNone/>
              <a:defRPr sz="1025"/>
            </a:lvl4pPr>
            <a:lvl5pPr marL="2082332" indent="0">
              <a:buNone/>
              <a:defRPr sz="1025"/>
            </a:lvl5pPr>
            <a:lvl6pPr marL="2602916" indent="0">
              <a:buNone/>
              <a:defRPr sz="1025"/>
            </a:lvl6pPr>
            <a:lvl7pPr marL="3123498" indent="0">
              <a:buNone/>
              <a:defRPr sz="1025"/>
            </a:lvl7pPr>
            <a:lvl8pPr marL="3644080" indent="0">
              <a:buNone/>
              <a:defRPr sz="1025"/>
            </a:lvl8pPr>
            <a:lvl9pPr marL="4164664" indent="0">
              <a:buNone/>
              <a:defRPr sz="1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336" y="5803078"/>
            <a:ext cx="6248761" cy="685086"/>
          </a:xfrm>
        </p:spPr>
        <p:txBody>
          <a:bodyPr anchor="b"/>
          <a:lstStyle>
            <a:lvl1pPr algn="l">
              <a:defRPr sz="227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1336" y="740737"/>
            <a:ext cx="6248761" cy="4974067"/>
          </a:xfrm>
        </p:spPr>
        <p:txBody>
          <a:bodyPr/>
          <a:lstStyle>
            <a:lvl1pPr marL="0" indent="0">
              <a:buNone/>
              <a:defRPr sz="3643"/>
            </a:lvl1pPr>
            <a:lvl2pPr marL="520583" indent="0">
              <a:buNone/>
              <a:defRPr sz="3189"/>
            </a:lvl2pPr>
            <a:lvl3pPr marL="1041166" indent="0">
              <a:buNone/>
              <a:defRPr sz="2734"/>
            </a:lvl3pPr>
            <a:lvl4pPr marL="1561749" indent="0">
              <a:buNone/>
              <a:defRPr sz="2278"/>
            </a:lvl4pPr>
            <a:lvl5pPr marL="2082332" indent="0">
              <a:buNone/>
              <a:defRPr sz="2278"/>
            </a:lvl5pPr>
            <a:lvl6pPr marL="2602916" indent="0">
              <a:buNone/>
              <a:defRPr sz="2278"/>
            </a:lvl6pPr>
            <a:lvl7pPr marL="3123498" indent="0">
              <a:buNone/>
              <a:defRPr sz="2278"/>
            </a:lvl7pPr>
            <a:lvl8pPr marL="3644080" indent="0">
              <a:buNone/>
              <a:defRPr sz="2278"/>
            </a:lvl8pPr>
            <a:lvl9pPr marL="4164664" indent="0">
              <a:buNone/>
              <a:defRPr sz="227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1336" y="6488166"/>
            <a:ext cx="6248761" cy="972936"/>
          </a:xfrm>
        </p:spPr>
        <p:txBody>
          <a:bodyPr/>
          <a:lstStyle>
            <a:lvl1pPr marL="0" indent="0">
              <a:buNone/>
              <a:defRPr sz="1595"/>
            </a:lvl1pPr>
            <a:lvl2pPr marL="520583" indent="0">
              <a:buNone/>
              <a:defRPr sz="1367"/>
            </a:lvl2pPr>
            <a:lvl3pPr marL="1041166" indent="0">
              <a:buNone/>
              <a:defRPr sz="1139"/>
            </a:lvl3pPr>
            <a:lvl4pPr marL="1561749" indent="0">
              <a:buNone/>
              <a:defRPr sz="1025"/>
            </a:lvl4pPr>
            <a:lvl5pPr marL="2082332" indent="0">
              <a:buNone/>
              <a:defRPr sz="1025"/>
            </a:lvl5pPr>
            <a:lvl6pPr marL="2602916" indent="0">
              <a:buNone/>
              <a:defRPr sz="1025"/>
            </a:lvl6pPr>
            <a:lvl7pPr marL="3123498" indent="0">
              <a:buNone/>
              <a:defRPr sz="1025"/>
            </a:lvl7pPr>
            <a:lvl8pPr marL="3644080" indent="0">
              <a:buNone/>
              <a:defRPr sz="1025"/>
            </a:lvl8pPr>
            <a:lvl9pPr marL="4164664" indent="0">
              <a:buNone/>
              <a:defRPr sz="10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50588" y="331992"/>
            <a:ext cx="2343286" cy="70734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0731" y="331992"/>
            <a:ext cx="6856279" cy="70734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0730" y="331998"/>
            <a:ext cx="9373143" cy="1381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30" y="1934369"/>
            <a:ext cx="9373143" cy="5471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0730" y="7683708"/>
            <a:ext cx="2430074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58324" y="7683708"/>
            <a:ext cx="3297959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3798" y="7683708"/>
            <a:ext cx="2430074" cy="4413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1166" rtl="0" eaLnBrk="1" latinLnBrk="0" hangingPunct="1">
        <a:spcBef>
          <a:spcPct val="0"/>
        </a:spcBef>
        <a:buNone/>
        <a:defRPr sz="5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0438" indent="-390438" algn="l" defTabSz="1041166" rtl="0" eaLnBrk="1" latinLnBrk="0" hangingPunct="1">
        <a:spcBef>
          <a:spcPct val="20000"/>
        </a:spcBef>
        <a:buFont typeface="Arial" pitchFamily="34" charset="0"/>
        <a:buChar char="•"/>
        <a:defRPr sz="3643" kern="1200">
          <a:solidFill>
            <a:schemeClr val="tx1"/>
          </a:solidFill>
          <a:latin typeface="+mn-lt"/>
          <a:ea typeface="+mn-ea"/>
          <a:cs typeface="+mn-cs"/>
        </a:defRPr>
      </a:lvl1pPr>
      <a:lvl2pPr marL="845946" indent="-325362" algn="l" defTabSz="1041166" rtl="0" eaLnBrk="1" latinLnBrk="0" hangingPunct="1">
        <a:spcBef>
          <a:spcPct val="20000"/>
        </a:spcBef>
        <a:buFont typeface="Arial" pitchFamily="34" charset="0"/>
        <a:buChar char="–"/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301457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3pPr>
      <a:lvl4pPr marL="1822040" indent="-260291" algn="l" defTabSz="1041166" rtl="0" eaLnBrk="1" latinLnBrk="0" hangingPunct="1">
        <a:spcBef>
          <a:spcPct val="20000"/>
        </a:spcBef>
        <a:buFont typeface="Arial" pitchFamily="34" charset="0"/>
        <a:buChar char="–"/>
        <a:defRPr sz="2278" kern="1200">
          <a:solidFill>
            <a:schemeClr val="tx1"/>
          </a:solidFill>
          <a:latin typeface="+mn-lt"/>
          <a:ea typeface="+mn-ea"/>
          <a:cs typeface="+mn-cs"/>
        </a:defRPr>
      </a:lvl4pPr>
      <a:lvl5pPr marL="2342623" indent="-260291" algn="l" defTabSz="1041166" rtl="0" eaLnBrk="1" latinLnBrk="0" hangingPunct="1">
        <a:spcBef>
          <a:spcPct val="20000"/>
        </a:spcBef>
        <a:buFont typeface="Arial" pitchFamily="34" charset="0"/>
        <a:buChar char="»"/>
        <a:defRPr sz="2278" kern="1200">
          <a:solidFill>
            <a:schemeClr val="tx1"/>
          </a:solidFill>
          <a:latin typeface="+mn-lt"/>
          <a:ea typeface="+mn-ea"/>
          <a:cs typeface="+mn-cs"/>
        </a:defRPr>
      </a:lvl5pPr>
      <a:lvl6pPr marL="2863206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6pPr>
      <a:lvl7pPr marL="3383789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7pPr>
      <a:lvl8pPr marL="3904372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8pPr>
      <a:lvl9pPr marL="4424956" indent="-260291" algn="l" defTabSz="1041166" rtl="0" eaLnBrk="1" latinLnBrk="0" hangingPunct="1">
        <a:spcBef>
          <a:spcPct val="20000"/>
        </a:spcBef>
        <a:buFont typeface="Arial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1pPr>
      <a:lvl2pPr marL="520583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66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3pPr>
      <a:lvl4pPr marL="1561749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4pPr>
      <a:lvl5pPr marL="2082332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5pPr>
      <a:lvl6pPr marL="2602916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6pPr>
      <a:lvl7pPr marL="3123498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7pPr>
      <a:lvl8pPr marL="3644080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8pPr>
      <a:lvl9pPr marL="4164664" algn="l" defTabSz="1041166" rtl="0" eaLnBrk="1" latinLnBrk="0" hangingPunct="1">
        <a:defRPr sz="2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90" y="5003830"/>
            <a:ext cx="11214038" cy="0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4092500" y="472208"/>
            <a:ext cx="0" cy="4243912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364664" y="2281237"/>
            <a:ext cx="7127542" cy="0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 flipH="1" flipV="1">
            <a:off x="5841725" y="5627694"/>
            <a:ext cx="1" cy="2952102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 flipH="1" flipV="1">
            <a:off x="3418583" y="5649715"/>
            <a:ext cx="1" cy="2934844"/>
          </a:xfrm>
          <a:prstGeom prst="line">
            <a:avLst/>
          </a:prstGeom>
          <a:ln w="19050" cap="flat">
            <a:solidFill>
              <a:schemeClr val="accent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CA" sz="1797">
              <a:solidFill>
                <a:schemeClr val="accent1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9401" y="300622"/>
            <a:ext cx="3797215" cy="1338828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4337" b="1" spc="294" dirty="0">
                <a:solidFill>
                  <a:schemeClr val="accent1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MODEL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64664" y="501564"/>
            <a:ext cx="2533384" cy="16158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Average </a:t>
            </a:r>
            <a:r>
              <a:rPr lang="en-US" sz="1710" b="1" i="1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Evalution</a:t>
            </a:r>
            <a: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Metrics After Cross-validation:</a:t>
            </a:r>
            <a:br>
              <a:rPr lang="en-US" sz="171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endParaRPr lang="en-US" sz="1710" b="1" i="1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f1: 0.886</a:t>
            </a: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recall: 0.879</a:t>
            </a:r>
          </a:p>
          <a:p>
            <a:pPr>
              <a:lnSpc>
                <a:spcPts val="1818"/>
              </a:lnSpc>
            </a:pPr>
            <a:r>
              <a:rPr lang="en-US" sz="171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Mean precision: 0.893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4760" y="2449094"/>
            <a:ext cx="4652522" cy="230832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Classification Report:</a:t>
            </a:r>
            <a:b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br>
              <a:rPr lang="en-US" sz="1600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precision    recall  f1-score   support</a:t>
            </a:r>
          </a:p>
          <a:p>
            <a:pPr>
              <a:lnSpc>
                <a:spcPts val="1818"/>
              </a:lnSpc>
            </a:pPr>
            <a:endParaRPr lang="en-US" sz="1600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       0       0.98      0.99      0.98      4252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       1       0.92      0.90      0.91       748</a:t>
            </a:r>
          </a:p>
          <a:p>
            <a:pPr>
              <a:lnSpc>
                <a:spcPts val="1818"/>
              </a:lnSpc>
            </a:pPr>
            <a:endParaRPr lang="en-US" sz="1600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 accuracy                                     0.97     5000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  macro avg       0.95      0.94       0.95     5000</a:t>
            </a:r>
          </a:p>
          <a:p>
            <a:pPr>
              <a:lnSpc>
                <a:spcPts val="1818"/>
              </a:lnSpc>
            </a:pPr>
            <a:r>
              <a:rPr lang="en-US" sz="1600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weighted avg       0.97      0.97      0.97     5000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51EED1B2-1FA8-04CC-3D8D-F9013BCBAC03}"/>
              </a:ext>
            </a:extLst>
          </p:cNvPr>
          <p:cNvSpPr txBox="1"/>
          <p:nvPr/>
        </p:nvSpPr>
        <p:spPr>
          <a:xfrm>
            <a:off x="771208" y="1900984"/>
            <a:ext cx="3173148" cy="27711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Model used</a:t>
            </a:r>
            <a:r>
              <a:rPr lang="en-US" sz="1709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: </a:t>
            </a:r>
            <a:r>
              <a:rPr lang="en-US" sz="1709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RandomForest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from Scikit-Learn</a:t>
            </a:r>
          </a:p>
          <a:p>
            <a:pPr>
              <a:lnSpc>
                <a:spcPts val="1818"/>
              </a:lnSpc>
            </a:pPr>
            <a:br>
              <a:rPr lang="en-US" sz="1709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Additional techniques: 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SMOTE (Synthetic Minority Oversampling Technique) </a:t>
            </a:r>
            <a: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to deal with class imbalance</a:t>
            </a:r>
            <a:b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br>
              <a:rPr lang="en-US" sz="1709" u="sng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Data manipulation/feature engineering: </a:t>
            </a:r>
            <a:r>
              <a:rPr lang="en-US" sz="1709" dirty="0" err="1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OneHotEncoding</a:t>
            </a:r>
            <a:r>
              <a:rPr lang="en-US" sz="1709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 for features with non-numerical values</a:t>
            </a:r>
            <a:endParaRPr lang="en-US" sz="1709" b="1" i="1" dirty="0">
              <a:solidFill>
                <a:schemeClr val="accent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07666E-BFA4-8D0D-4DBC-F0D3FC09BCCB}"/>
              </a:ext>
            </a:extLst>
          </p:cNvPr>
          <p:cNvSpPr txBox="1"/>
          <p:nvPr/>
        </p:nvSpPr>
        <p:spPr>
          <a:xfrm>
            <a:off x="1307010" y="5070872"/>
            <a:ext cx="3601966" cy="355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9" b="1" dirty="0">
                <a:solidFill>
                  <a:schemeClr val="accent1"/>
                </a:solidFill>
                <a:latin typeface="Agrandir"/>
              </a:rPr>
              <a:t>Distribution of </a:t>
            </a:r>
            <a:r>
              <a:rPr lang="en-US" sz="1600" b="1" dirty="0">
                <a:solidFill>
                  <a:schemeClr val="accent1"/>
                </a:solidFill>
                <a:latin typeface="Agrandir"/>
              </a:rPr>
              <a:t>numerical</a:t>
            </a:r>
            <a:r>
              <a:rPr lang="en-US" sz="1709" b="1" dirty="0">
                <a:solidFill>
                  <a:schemeClr val="accent1"/>
                </a:solidFill>
                <a:latin typeface="Agrandir"/>
              </a:rPr>
              <a:t> data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5433DB-9CA5-8A07-CE91-7EC87E3DE6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01" y="5465678"/>
            <a:ext cx="5148329" cy="3457071"/>
          </a:xfrm>
          <a:prstGeom prst="rect">
            <a:avLst/>
          </a:prstGeom>
        </p:spPr>
      </p:pic>
      <p:pic>
        <p:nvPicPr>
          <p:cNvPr id="40" name="Picture 39" descr="A graph with blue squares&#10;&#10;AI-generated content may be incorrect.">
            <a:extLst>
              <a:ext uri="{FF2B5EF4-FFF2-40B4-BE49-F238E27FC236}">
                <a16:creationId xmlns:a16="http://schemas.microsoft.com/office/drawing/2014/main" id="{AFBD9F6B-7D55-75DA-D375-20CCFD0170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826" y="5506970"/>
            <a:ext cx="5058911" cy="3368476"/>
          </a:xfrm>
          <a:prstGeom prst="rect">
            <a:avLst/>
          </a:prstGeom>
        </p:spPr>
      </p:pic>
      <p:sp>
        <p:nvSpPr>
          <p:cNvPr id="43" name="TextBox 17">
            <a:extLst>
              <a:ext uri="{FF2B5EF4-FFF2-40B4-BE49-F238E27FC236}">
                <a16:creationId xmlns:a16="http://schemas.microsoft.com/office/drawing/2014/main" id="{1378749F-EE97-9E5D-576C-A8062A91522D}"/>
              </a:ext>
            </a:extLst>
          </p:cNvPr>
          <p:cNvSpPr txBox="1"/>
          <p:nvPr/>
        </p:nvSpPr>
        <p:spPr>
          <a:xfrm>
            <a:off x="7406961" y="5133133"/>
            <a:ext cx="304064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600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Top 10 Variable Contributors</a:t>
            </a:r>
          </a:p>
        </p:txBody>
      </p:sp>
      <p:pic>
        <p:nvPicPr>
          <p:cNvPr id="49" name="Picture 48" descr="A green and white squares with white text&#10;&#10;AI-generated content may be incorrect.">
            <a:extLst>
              <a:ext uri="{FF2B5EF4-FFF2-40B4-BE49-F238E27FC236}">
                <a16:creationId xmlns:a16="http://schemas.microsoft.com/office/drawing/2014/main" id="{1D4FC491-3F7E-FBB0-27D9-4FAC520FA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807" y="300621"/>
            <a:ext cx="3814745" cy="2903795"/>
          </a:xfrm>
          <a:prstGeom prst="rect">
            <a:avLst/>
          </a:prstGeom>
        </p:spPr>
      </p:pic>
      <p:sp>
        <p:nvSpPr>
          <p:cNvPr id="52" name="TextBox 17">
            <a:extLst>
              <a:ext uri="{FF2B5EF4-FFF2-40B4-BE49-F238E27FC236}">
                <a16:creationId xmlns:a16="http://schemas.microsoft.com/office/drawing/2014/main" id="{957BA8FD-7D3D-FA2C-755A-7B921214D094}"/>
              </a:ext>
            </a:extLst>
          </p:cNvPr>
          <p:cNvSpPr txBox="1"/>
          <p:nvPr/>
        </p:nvSpPr>
        <p:spPr>
          <a:xfrm>
            <a:off x="8927282" y="3489153"/>
            <a:ext cx="2880128" cy="1155316"/>
          </a:xfrm>
          <a:prstGeom prst="rect">
            <a:avLst/>
          </a:prstGeom>
          <a:gradFill>
            <a:gsLst>
              <a:gs pos="0">
                <a:srgbClr val="C5DAFF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709" b="1" i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After correcting for class imbalance before training the model with SMOTE, the model is quite accurate</a:t>
            </a: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BCE75681-4787-3077-39D4-FE2D69DCB349}"/>
              </a:ext>
            </a:extLst>
          </p:cNvPr>
          <p:cNvSpPr txBox="1"/>
          <p:nvPr/>
        </p:nvSpPr>
        <p:spPr>
          <a:xfrm>
            <a:off x="10038655" y="8753285"/>
            <a:ext cx="1842665" cy="2213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8"/>
              </a:lnSpc>
            </a:pPr>
            <a:r>
              <a:rPr lang="en-US" sz="1400" b="1" dirty="0">
                <a:solidFill>
                  <a:schemeClr val="accent1"/>
                </a:solidFill>
                <a:latin typeface="Agrandir"/>
                <a:ea typeface="Agrandir"/>
                <a:cs typeface="Agrandir"/>
                <a:sym typeface="Agrandir"/>
              </a:rPr>
              <a:t>Mohammad Fakhir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122</Words>
  <Application>Microsoft Office PowerPoint</Application>
  <PresentationFormat>Ledger Paper (11x17 in)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Agrandir</vt:lpstr>
      <vt:lpstr>Arial</vt:lpstr>
      <vt:lpstr>Calibri</vt:lpstr>
      <vt:lpstr>Agrandir Ultra-Bold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One Page Executive Summary Slide</dc:title>
  <cp:lastModifiedBy>mfakhir@student.ubc.ca</cp:lastModifiedBy>
  <cp:revision>2</cp:revision>
  <dcterms:created xsi:type="dcterms:W3CDTF">2006-08-16T00:00:00Z</dcterms:created>
  <dcterms:modified xsi:type="dcterms:W3CDTF">2025-10-22T08:11:05Z</dcterms:modified>
  <dc:identifier>DAG2fqcEwRc</dc:identifier>
</cp:coreProperties>
</file>